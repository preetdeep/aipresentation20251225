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625AC0-FFEA-49D4-8C41-9CC7BC5CDB5F}">
  <a:tblStyle styleId="{DD625AC0-FFEA-49D4-8C41-9CC7BC5CDB5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7" Type="http://schemas.openxmlformats.org/officeDocument/2006/relationships/font" Target="fonts/Montserra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154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6137" y="3093690"/>
            <a:ext cx="5419725" cy="147057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4191000" y="1524000"/>
            <a:ext cx="381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667250" y="2000250"/>
            <a:ext cx="28575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57150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SkillBridge India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160020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6C5F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QUARTERLY BUSINESS REVIEW: Q4 2025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86137" y="3541365"/>
            <a:ext cx="54197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To: Board of Directors &amp; Executive Leadership Team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386137" y="3882330"/>
            <a:ext cx="54197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From: Office of the Chief Executive Officer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386137" y="4223295"/>
            <a:ext cx="54197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Date: December 26,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030759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CB22E"/>
                </a:solidFill>
                <a:latin typeface="Montserrat"/>
                <a:ea typeface="Montserrat"/>
                <a:cs typeface="Montserrat"/>
                <a:sym typeface="Montserrat"/>
              </a:rPr>
              <a:t>FY2025 PERFORMANCE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95275" y="2497484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619750" y="3802409"/>
            <a:ext cx="952500" cy="57150"/>
          </a:xfrm>
          <a:prstGeom prst="rect">
            <a:avLst/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809750" y="4240559"/>
            <a:ext cx="85725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Capitalized on 9% YoY Indian digital recruitment growth, achieving a milestone of 14.2 Million Monthly Active Users in Q4.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04950"/>
            <a:ext cx="11049000" cy="501193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4333875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Naukri:</a:t>
            </a: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 Deep enterprise network &amp; B2B SaaS focus.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286500" y="4333875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LinkedIn:</a:t>
            </a: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 Social recruiting and leadership focus.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5720655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Indeed:</a:t>
            </a: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 SME market &amp; gig-economy aggregation.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286500" y="5720655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SkillBridge:</a:t>
            </a: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 Skill-verified matching &amp; Tier 2/3 focus.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Competitor Landscape Market Share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410200"/>
            <a:ext cx="11049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627697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96% of users access via mobile, favoring our app-centric Tier-2/3 expansion strategy.</a:t>
            </a:r>
            <a:endParaRPr/>
          </a:p>
        </p:txBody>
      </p:sp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1981200"/>
            <a:ext cx="9525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1047750" y="4181475"/>
            <a:ext cx="4000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10.1M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219575" y="3705225"/>
            <a:ext cx="4000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11.4M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391400" y="3228975"/>
            <a:ext cx="4191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12.9M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0572750" y="2752725"/>
            <a:ext cx="428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14.2M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524000" y="5619750"/>
            <a:ext cx="609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Q1 2025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333875" y="5619750"/>
            <a:ext cx="6381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Q2 2025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172325" y="5619750"/>
            <a:ext cx="6381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Q3 2025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010775" y="5619750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Q4 2025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 Growth Trends (MAUs)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Revenue Breakdown (FY 2025)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18"/>
          <p:cNvGraphicFramePr/>
          <p:nvPr/>
        </p:nvGraphicFramePr>
        <p:xfrm>
          <a:off x="571500" y="18868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{DD625AC0-FFEA-49D4-8C41-9CC7BC5CDB5F}</a:tableStyleId>
              </a:tblPr>
              <a:tblGrid>
                <a:gridCol w="3490625"/>
                <a:gridCol w="1836400"/>
                <a:gridCol w="1897100"/>
                <a:gridCol w="1897100"/>
                <a:gridCol w="1927775"/>
              </a:tblGrid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 (INR Crore)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5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Q1 2025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5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Q2 2025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5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Q3 2025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5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Q4 2025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54B"/>
                    </a:solidFill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Revenue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Direct Costs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56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EBITDA Margin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46.6%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45.4%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45.4%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18"/>
          <p:cNvSpPr txBox="1"/>
          <p:nvPr/>
        </p:nvSpPr>
        <p:spPr>
          <a:xfrm>
            <a:off x="571500" y="559206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EB67D"/>
                </a:solidFill>
                <a:latin typeface="Montserrat"/>
                <a:ea typeface="Montserrat"/>
                <a:cs typeface="Montserrat"/>
                <a:sym typeface="Montserrat"/>
              </a:rPr>
              <a:t>FY2025 Total Revenue: 412 Crore | Total Operating Costs: 218 Crore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571500" y="3044130"/>
            <a:ext cx="349061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4062114" y="3044130"/>
            <a:ext cx="18363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5898505" y="3044130"/>
            <a:ext cx="189711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7795617" y="3044130"/>
            <a:ext cx="189711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9692729" y="3044130"/>
            <a:ext cx="192777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571500" y="3606105"/>
            <a:ext cx="349061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062114" y="3606105"/>
            <a:ext cx="18363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898505" y="3606105"/>
            <a:ext cx="189711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7795617" y="3606105"/>
            <a:ext cx="189711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9692729" y="3606105"/>
            <a:ext cx="192777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571500" y="4168080"/>
            <a:ext cx="349061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062114" y="4168080"/>
            <a:ext cx="18363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898505" y="4168080"/>
            <a:ext cx="189711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7795617" y="4168080"/>
            <a:ext cx="189711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9692729" y="4168080"/>
            <a:ext cx="192777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71500" y="4730055"/>
            <a:ext cx="349061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4062114" y="4730055"/>
            <a:ext cx="18363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898505" y="4730055"/>
            <a:ext cx="189711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795617" y="4730055"/>
            <a:ext cx="189711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9692729" y="4730055"/>
            <a:ext cx="192777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71500" y="5292030"/>
            <a:ext cx="349061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062114" y="5292030"/>
            <a:ext cx="18363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898505" y="5292030"/>
            <a:ext cx="189711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7795617" y="5292030"/>
            <a:ext cx="189711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9692729" y="5292030"/>
            <a:ext cx="192777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Quarterly Financial Performance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154B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571500" y="5423594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Anticipated </a:t>
            </a:r>
            <a:r>
              <a:rPr b="0" i="0" lang="en-US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+26% YoY</a:t>
            </a:r>
            <a:r>
              <a:rPr b="0" i="0" lang="en-US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growth in 2026 and </a:t>
            </a:r>
            <a:r>
              <a:rPr b="0" i="0" lang="en-US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+31% YoY</a:t>
            </a:r>
            <a:r>
              <a:rPr b="0" i="0" lang="en-US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 2027.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2328862" y="1937444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412 Cr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2286000" y="2404169"/>
            <a:ext cx="762000" cy="1714500"/>
          </a:xfrm>
          <a:prstGeom prst="roundRect">
            <a:avLst>
              <a:gd fmla="val 12500" name="adj"/>
            </a:avLst>
          </a:prstGeom>
          <a:solidFill>
            <a:srgbClr val="ECB2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1890712" y="4309169"/>
            <a:ext cx="1552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 (Actual)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29287" y="1461194"/>
            <a:ext cx="7334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6C5F0"/>
                </a:solidFill>
                <a:latin typeface="Montserrat"/>
                <a:ea typeface="Montserrat"/>
                <a:cs typeface="Montserrat"/>
                <a:sym typeface="Montserrat"/>
              </a:rPr>
              <a:t>520 Cr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0" y="1927919"/>
            <a:ext cx="762000" cy="2190750"/>
          </a:xfrm>
          <a:prstGeom prst="roundRect">
            <a:avLst>
              <a:gd fmla="val 125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5310187" y="4309169"/>
            <a:ext cx="1571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 (Target)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9148762" y="794444"/>
            <a:ext cx="7524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EB67D"/>
                </a:solidFill>
                <a:latin typeface="Montserrat"/>
                <a:ea typeface="Montserrat"/>
                <a:cs typeface="Montserrat"/>
                <a:sym typeface="Montserrat"/>
              </a:rPr>
              <a:t>680 Cr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9144000" y="1261169"/>
            <a:ext cx="762000" cy="2857500"/>
          </a:xfrm>
          <a:prstGeom prst="roundRect">
            <a:avLst>
              <a:gd fmla="val 125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8543925" y="4309169"/>
            <a:ext cx="1962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2027 (Projected)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Two-Year Projections (Revenue)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571500" y="19907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01E5A"/>
                </a:solidFill>
                <a:latin typeface="Montserrat"/>
                <a:ea typeface="Montserrat"/>
                <a:cs typeface="Montserrat"/>
                <a:sym typeface="Montserrat"/>
              </a:rPr>
              <a:t>Expanding the Footprint</a:t>
            </a:r>
            <a:endParaRPr/>
          </a:p>
        </p:txBody>
      </p:sp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2028825"/>
            <a:ext cx="51625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04850" y="2399347"/>
            <a:ext cx="571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762000" y="2400300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Targeting key growth hubs: Coimbatore, Jaipur, and Ahmedabad.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704850" y="3176527"/>
            <a:ext cx="571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3177480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35% of new job creation in 2025 originated from non-metro regions.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704850" y="3953708"/>
            <a:ext cx="571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762000" y="3954660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Localizing UI experience in Hindi, Tamil, and Marathi to drive accessibility.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704850" y="4730888"/>
            <a:ext cx="571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4731841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Partnering with local industry bodies to bridge regional talent gaps.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Pragati: Tier-2/3 Expansion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/>
        </p:nvSpPr>
        <p:spPr>
          <a:xfrm>
            <a:off x="571500" y="1923157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6C5F0"/>
                </a:solidFill>
                <a:latin typeface="Montserrat"/>
                <a:ea typeface="Montserrat"/>
                <a:cs typeface="Montserrat"/>
                <a:sym typeface="Montserrat"/>
              </a:rPr>
              <a:t>Revolutionizing Screening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2542282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Deployment of a proprietary Large Language Model (LLM) to score candidate resumes against specific job descriptions.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3841402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Impact:</a:t>
            </a: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 Reduced recruiter screening time by 40%, significantly increasing ROI for enterprise clients.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5140523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Positions SkillBridge as a premium alternative to legacy aggregators through AI-led screening.</a:t>
            </a:r>
            <a:endParaRPr/>
          </a:p>
        </p:txBody>
      </p:sp>
      <p:pic>
        <p:nvPicPr>
          <p:cNvPr descr="image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71500" y="627757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AI-Powered MatchScore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486251"/>
            <a:ext cx="110490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3492549" cy="3600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504950"/>
            <a:ext cx="3492549" cy="3600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504950"/>
            <a:ext cx="3492549" cy="360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952500" y="5772001"/>
            <a:ext cx="10382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Opportunity:</a:t>
            </a:r>
            <a:r>
              <a:rPr b="0" i="0" lang="en-US" sz="150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 Hundreds of Global Capability Centres (GCCs) are expanding in India, creating a high-margin segment for pre-vetted matching.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952500" y="2619375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DigiLocker Integration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952500" y="3048000"/>
            <a:ext cx="2730549" cy="1466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Direct integration allowing candidates to display Verified badges for academic and professional history.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4730799" y="2619375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Pre-Vetted Talent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4730799" y="3048000"/>
            <a:ext cx="27305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Addressing high talent-shortage reporting (82%) by providing instantly verifiable credentials.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509099" y="2619375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Digital Credentials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8509099" y="3048000"/>
            <a:ext cx="27305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Strategic pivot to Skill-Verified credentials to reduce employer time-to-hire by 18%.</a:t>
            </a:r>
            <a:endParaRPr/>
          </a:p>
        </p:txBody>
      </p:sp>
      <p:pic>
        <p:nvPicPr>
          <p:cNvPr descr="image.png" id="221" name="Google Shape;22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0002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0002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0002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Verified Credentials via India Stack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72741"/>
            <a:ext cx="5238750" cy="3445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72741"/>
            <a:ext cx="5238750" cy="344596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952500" y="2629941"/>
            <a:ext cx="47005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01E5A"/>
                </a:solidFill>
                <a:latin typeface="Montserrat"/>
                <a:ea typeface="Montserrat"/>
                <a:cs typeface="Montserrat"/>
                <a:sym typeface="Montserrat"/>
              </a:rPr>
              <a:t>Risks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952500" y="3058566"/>
            <a:ext cx="44767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Automation Displacement:</a:t>
            </a: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 38% of employers report reductions due to AI. Pivoting to AI-human hybrid roles.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952500" y="4148137"/>
            <a:ext cx="44767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Data Privacy:</a:t>
            </a: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 Scrutiny from the DPDP Act requires investment in compliance infrastructure.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762750" y="2629941"/>
            <a:ext cx="47005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EB67D"/>
                </a:solidFill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762750" y="3058566"/>
            <a:ext cx="44767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The Gig Economy:</a:t>
            </a: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 24% of workforce participation. Launching "SkillBridge Flex" for project-based hiring.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762750" y="4148137"/>
            <a:ext cx="4476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GCC Expansion:</a:t>
            </a:r>
            <a:r>
              <a:rPr b="0" i="0" lang="en-US" sz="165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 Over 118 unicorns and GCCs create a premium matching market.</a:t>
            </a:r>
            <a:endParaRPr/>
          </a:p>
        </p:txBody>
      </p:sp>
      <p:pic>
        <p:nvPicPr>
          <p:cNvPr descr="image.png" id="237" name="Google Shape;23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648991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2648991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Risks and Opportunities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154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/>
          <p:nvPr/>
        </p:nvSpPr>
        <p:spPr>
          <a:xfrm>
            <a:off x="4191000" y="1524000"/>
            <a:ext cx="381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4667250" y="2000250"/>
            <a:ext cx="28575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571500"/>
            <a:ext cx="11049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EB67D"/>
                </a:solidFill>
                <a:latin typeface="Montserrat"/>
                <a:ea typeface="Montserrat"/>
                <a:cs typeface="Montserrat"/>
                <a:sym typeface="Montserrat"/>
              </a:rPr>
              <a:t>FY2026 OUTLOOK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295275" y="1019175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Strategic Conclusion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2286000" y="2228850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SkillBridge India is positioned for significant growth. Our focus on quality talent matching, verified credentials, and tier-2/3 expansion will drive sustainable growth and profitability.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295275" y="3897362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CB22E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571500" y="4554587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Office of the Chief Executive Officer | December 2025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/>
          <p:nvPr/>
        </p:nvSpPr>
        <p:spPr>
          <a:xfrm>
            <a:off x="571500" y="3063329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9564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9564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716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666875" y="3206204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https://sp-ao.shortpixel.ai/client/to_webp,q_glossy,ret_img,w_750,h_394/https://authbridge.com/wp-content/uploads/2025/06/Gig-and-platform-workers-vision-2047-blog-image-1024x538.png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1666875" y="3600301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authbridge.com</a:t>
            </a:r>
            <a:endParaRPr/>
          </a:p>
        </p:txBody>
      </p:sp>
      <p:pic>
        <p:nvPicPr>
          <p:cNvPr descr="image.png" id="261" name="Google Shape;26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088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1666875" y="412983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https://image-assets.aus-2.volcanic.cloud/api/v1/assets/images/3fe6043d37d875192a41daf9faabcdd7?t=1766465585%3Fsize%3D400x400%23&amp;webp_fallback=png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666875" y="435069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www.crescendo-global.com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