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MAUs (Millions)</c:v>
                </c:pt>
              </c:strCache>
            </c:strRef>
          </c:tx>
          <c:spPr>
            <a:solidFill>
              <a:srgbClr val="16A085"/>
            </a:solidFill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 2025</c:v>
                  </c:pt>
                  <c:pt idx="1">
                    <c:v>Q2 2025</c:v>
                  </c:pt>
                  <c:pt idx="2">
                    <c:v>Q3 2025</c:v>
                  </c:pt>
                  <c:pt idx="3">
                    <c:v>Q4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</c:v>
                </c:pt>
                <c:pt idx="1">
                  <c:v>11.4</c:v>
                </c:pt>
                <c:pt idx="2">
                  <c:v>12.9</c:v>
                </c:pt>
                <c:pt idx="3">
                  <c:v>14.2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MAUs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085"/>
              </a:solidFill>
              <a:effectLst/>
            </c:spPr>
          </c:dPt>
          <c:dPt>
            <c:idx val="1"/>
            <c:bubble3D val="0"/>
            <c:spPr>
              <a:solidFill>
                <a:srgbClr val="2C4F7A"/>
              </a:solidFill>
              <a:effectLst/>
            </c:spPr>
          </c:dPt>
          <c:dPt>
            <c:idx val="2"/>
            <c:bubble3D val="0"/>
            <c:spPr>
              <a:solidFill>
                <a:srgbClr val="5D8AB4"/>
              </a:solidFill>
              <a:effectLst/>
            </c:spPr>
          </c:dPt>
          <c:dPt>
            <c:idx val="3"/>
            <c:bubble3D val="0"/>
            <c:spPr>
              <a:solidFill>
                <a:srgbClr val="8FB8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Employer Subscriptions</c:v>
                </c:pt>
                <c:pt idx="1">
                  <c:v>Featured Listings</c:v>
                </c:pt>
                <c:pt idx="2">
                  <c:v>Resume Access</c:v>
                </c:pt>
                <c:pt idx="3">
                  <c:v>Skill Assessment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276</c:v>
                </c:pt>
                <c:pt idx="1">
                  <c:v>62</c:v>
                </c:pt>
                <c:pt idx="2">
                  <c:v>41</c:v>
                </c:pt>
                <c:pt idx="3">
                  <c:v>33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97</c:v>
                </c:pt>
                <c:pt idx="2">
                  <c:v>108</c:v>
                </c:pt>
                <c:pt idx="3">
                  <c:v>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</c:v>
                </c:pt>
                <c:pt idx="1">
                  <c:v>53</c:v>
                </c:pt>
                <c:pt idx="2">
                  <c:v>59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INR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killbridge_pptx/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57374"/>
            <a:ext cx="253365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95574"/>
            <a:ext cx="539210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219474"/>
            <a:ext cx="81610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2400"/>
              </a:spcAft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71500" y="3049935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354523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Board of Directors &amp; Executive Leadership Team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92236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Office of the Chief Executive Officer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299496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26,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302246"/>
            <a:ext cx="4610100" cy="897136"/>
          </a:xfrm>
          <a:prstGeom prst="roundRect">
            <a:avLst>
              <a:gd name="adj" fmla="val 67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54646"/>
            <a:ext cx="4391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Performance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704082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Capitalised on 9% YoY growth in the Indian digital recruitment market. Achieved 14.2 million Monthly Active Users in Q4, driven by aggressive Tier-2 and Tier-3 expansion.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2466082"/>
            <a:ext cx="4610100" cy="897136"/>
          </a:xfrm>
          <a:prstGeom prst="roundRect">
            <a:avLst>
              <a:gd name="adj" fmla="val 67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618482"/>
            <a:ext cx="4391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867918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revenue of ₹412 Crore, exceeding initial targets by 12%. Growth anchored by AI/ML, Manufacturing, and BFSI sectors.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3629918"/>
            <a:ext cx="4610100" cy="897136"/>
          </a:xfrm>
          <a:prstGeom prst="roundRect">
            <a:avLst>
              <a:gd name="adj" fmla="val 67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3782318"/>
            <a:ext cx="4391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Impact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4031754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AI-led candidate screening and Skill-Verified credentials reduced employer time-to-hire by 18%, positioning us as a premium alternative to legacy aggregators.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0" y="1145084"/>
            <a:ext cx="3771900" cy="1078111"/>
          </a:xfrm>
          <a:prstGeom prst="roundRect">
            <a:avLst>
              <a:gd name="adj" fmla="val 56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0091" y="1335584"/>
            <a:ext cx="34587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₹412 Cr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00091" y="1872704"/>
            <a:ext cx="3458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43500" y="2375595"/>
            <a:ext cx="3771900" cy="1078111"/>
          </a:xfrm>
          <a:prstGeom prst="roundRect">
            <a:avLst>
              <a:gd name="adj" fmla="val 56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0091" y="2566095"/>
            <a:ext cx="34587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300091" y="3103215"/>
            <a:ext cx="3458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0" y="3606105"/>
            <a:ext cx="3771900" cy="1078111"/>
          </a:xfrm>
          <a:prstGeom prst="roundRect">
            <a:avLst>
              <a:gd name="adj" fmla="val 56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00091" y="3796605"/>
            <a:ext cx="34587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300091" y="4333726"/>
            <a:ext cx="3458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Target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White-collar recruitment market share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441252"/>
            <a:ext cx="2793950" cy="1093143"/>
          </a:xfrm>
          <a:prstGeom prst="roundRect">
            <a:avLst>
              <a:gd name="adj" fmla="val 557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593652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81000" y="2024062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Naukri.com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23539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enterprise network, B2B SaaS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174950" y="1441252"/>
            <a:ext cx="2793950" cy="1093143"/>
          </a:xfrm>
          <a:prstGeom prst="roundRect">
            <a:avLst>
              <a:gd name="adj" fmla="val 5577"/>
            </a:avLst>
          </a:prstGeom>
          <a:solidFill>
            <a:srgbClr val="2C4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27350" y="1593652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27350" y="2024062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Jobs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27350" y="223539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networking, social recruiting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121301" y="1441252"/>
            <a:ext cx="2793950" cy="1093143"/>
          </a:xfrm>
          <a:prstGeom prst="roundRect">
            <a:avLst>
              <a:gd name="adj" fmla="val 5577"/>
            </a:avLst>
          </a:prstGeom>
          <a:solidFill>
            <a:srgbClr val="3D60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73701" y="1593652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73701" y="2024062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Indeed India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73701" y="223539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aggregation, SME and gig economy</a:t>
            </a:r>
            <a:endParaRPr lang="en-US" sz="825" dirty="0"/>
          </a:p>
        </p:txBody>
      </p:sp>
      <p:pic>
        <p:nvPicPr>
          <p:cNvPr id="16" name="Image 0" descr="/tmp/rasterized-gradient-5cc2e6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801094"/>
            <a:ext cx="8686800" cy="115624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47675" y="3020169"/>
            <a:ext cx="11418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447675" y="3538240"/>
            <a:ext cx="114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India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871960" y="3093393"/>
            <a:ext cx="19050" cy="5715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195810" y="3179118"/>
            <a:ext cx="663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Differentiators: Skill-verified matching, Geolocation-based recommendations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195810" y="3407718"/>
            <a:ext cx="663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 Tier-2/3 city expansion, Digital credential verification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600" y="4224040"/>
            <a:ext cx="8686800" cy="426690"/>
          </a:xfrm>
          <a:prstGeom prst="roundRect">
            <a:avLst>
              <a:gd name="adj" fmla="val 142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77749" y="435739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Outperforming niche startups in growth velocity while building differentiated positioning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Growth Trends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 through FY2025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264593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1264593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050" y="1397943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0050" y="1582638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2058888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058888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050" y="2192238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00050" y="2376934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" y="2853184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2853184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050" y="2986534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00050" y="3171230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" y="3647480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7650" y="3647480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050" y="3780830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00050" y="3965525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8600" y="4441775"/>
            <a:ext cx="3040261" cy="385763"/>
          </a:xfrm>
          <a:prstGeom prst="roundRect">
            <a:avLst>
              <a:gd name="adj" fmla="val 15802"/>
            </a:avLst>
          </a:prstGeom>
          <a:solidFill>
            <a:srgbClr val="E8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900" y="4556075"/>
            <a:ext cx="28678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of users access via mobile</a:t>
            </a:r>
            <a:endParaRPr lang="en-US" sz="825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573661" y="1042988"/>
          <a:ext cx="5341739" cy="40063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Breakdown FY2025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Revenue: ₹412 Crore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560463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84606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1693813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Subscriptions (SaaS)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8650" y="1872853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₹276 Cr (67%)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8600" y="2322314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1950" y="26079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C4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2455664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 and Ads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8650" y="2634704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 Cr (15%)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" y="3084165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1950" y="336976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D8A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3217515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Resume/Data Access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8650" y="3396555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 Cr (10%)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8600" y="3846016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1950" y="41316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8FB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650" y="3979366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Assessment and Credentials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650" y="4158407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 Cr (8%)</a:t>
            </a:r>
            <a:endParaRPr lang="en-US" sz="13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008090" y="1205805"/>
          <a:ext cx="4907310" cy="36803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809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Financial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EBITDA Margin (INR Crore)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35463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9062" y="146893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9062" y="164038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₹88 Cr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062" y="18727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46.6% EBITDA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17204" y="135463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7666" y="146893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17666" y="164038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₹97 Cr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7666" y="18727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45.4% EBITDA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" y="236800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9062" y="24823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9062" y="265375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₹108 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062" y="2886075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45.4% EBITDA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17204" y="236800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17666" y="24823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17666" y="265375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₹119 Cr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7666" y="2886075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50.4% EBITDA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600" y="3400425"/>
            <a:ext cx="3300859" cy="559891"/>
          </a:xfrm>
          <a:prstGeom prst="roundRect">
            <a:avLst>
              <a:gd name="adj" fmla="val 10888"/>
            </a:avLst>
          </a:prstGeom>
          <a:solidFill>
            <a:srgbClr val="E8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900" y="3514725"/>
            <a:ext cx="3133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(FY2025)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42900" y="3699421"/>
            <a:ext cx="3133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Operating Costs: ₹218 Cr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28600" y="4207966"/>
            <a:ext cx="1049536" cy="529530"/>
          </a:xfrm>
          <a:prstGeom prst="roundRect">
            <a:avLst>
              <a:gd name="adj" fmla="val 1151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5260" y="4303216"/>
            <a:ext cx="87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15260" y="4455616"/>
            <a:ext cx="876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₹122 Cr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4336" y="4207966"/>
            <a:ext cx="1049536" cy="529530"/>
          </a:xfrm>
          <a:prstGeom prst="roundRect">
            <a:avLst>
              <a:gd name="adj" fmla="val 1151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0996" y="4303216"/>
            <a:ext cx="87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40996" y="4455616"/>
            <a:ext cx="876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 Cr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0072" y="4207966"/>
            <a:ext cx="1049536" cy="529530"/>
          </a:xfrm>
          <a:prstGeom prst="roundRect">
            <a:avLst>
              <a:gd name="adj" fmla="val 1151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66732" y="4303216"/>
            <a:ext cx="87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66732" y="4455616"/>
            <a:ext cx="876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 Cr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834259" y="1140768"/>
          <a:ext cx="5081141" cy="3810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5274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Revenue Projections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12% market growth trend in 2025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0100" y="1956495"/>
            <a:ext cx="1905000" cy="1371451"/>
          </a:xfrm>
          <a:prstGeom prst="roundRect">
            <a:avLst>
              <a:gd name="adj" fmla="val 444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1946" y="218509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(Actual)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946" y="2421285"/>
            <a:ext cx="132130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₹412 Cr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91946" y="293935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09900" y="2428875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19500" y="1956495"/>
            <a:ext cx="1905000" cy="1371451"/>
          </a:xfrm>
          <a:prstGeom prst="roundRect">
            <a:avLst>
              <a:gd name="adj" fmla="val 444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11346" y="218509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Target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11346" y="2421285"/>
            <a:ext cx="132130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₹520 Cr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911346" y="293935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YoY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29300" y="2428875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pic>
        <p:nvPicPr>
          <p:cNvPr id="14" name="Image 0" descr="/tmp/rasterized-gradient-2d0caa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956495"/>
            <a:ext cx="1905000" cy="137145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30746" y="218509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Target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30746" y="2421285"/>
            <a:ext cx="132130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₹680 Cr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6730746" y="293935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YoY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8600" y="4488210"/>
            <a:ext cx="8686800" cy="426690"/>
          </a:xfrm>
          <a:prstGeom prst="roundRect">
            <a:avLst>
              <a:gd name="adj" fmla="val 142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77749" y="462156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cumulative growth of 65% over two years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266825"/>
            <a:ext cx="8686800" cy="752475"/>
          </a:xfrm>
          <a:prstGeom prst="roundRect">
            <a:avLst>
              <a:gd name="adj" fmla="val 81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1266825"/>
            <a:ext cx="0" cy="7524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1419225"/>
            <a:ext cx="440531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925" y="1476375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556" y="1419225"/>
            <a:ext cx="7896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Pragati: Tier-2/3 Expansion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21556" y="1695450"/>
            <a:ext cx="7896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into Coimbatore, Jaipur, Ahmedabad. 35% of new jobs from non-metros. Localizing UI in Hindi, Tamil, Marathi.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095500"/>
            <a:ext cx="8686800" cy="752475"/>
          </a:xfrm>
          <a:prstGeom prst="roundRect">
            <a:avLst>
              <a:gd name="adj" fmla="val 81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2413" y="2095500"/>
            <a:ext cx="0" cy="7524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625" y="2247900"/>
            <a:ext cx="440531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2925" y="2305050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1556" y="2247900"/>
            <a:ext cx="7896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MatchScore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21556" y="2524125"/>
            <a:ext cx="7896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LLM scoring candidate resumes against JDs. Reduced recruiter screening time by 40%, increasing enterprise ROI.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924175"/>
            <a:ext cx="8686800" cy="752475"/>
          </a:xfrm>
          <a:prstGeom prst="roundRect">
            <a:avLst>
              <a:gd name="adj" fmla="val 81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2413" y="2924175"/>
            <a:ext cx="0" cy="7524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625" y="3076575"/>
            <a:ext cx="440531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2925" y="3133725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1556" y="3076575"/>
            <a:ext cx="7896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Credentials via India Stack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021556" y="3352800"/>
            <a:ext cx="7896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DigiLocker integration for Verified badges. Addresses 82% talent-shortage reporting with pre-vetted talent.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790950"/>
            <a:ext cx="2793950" cy="771376"/>
          </a:xfrm>
          <a:prstGeom prst="roundRect">
            <a:avLst>
              <a:gd name="adj" fmla="val 790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677" y="3924300"/>
            <a:ext cx="25777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6677" y="428238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from Non-Metros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174950" y="3790950"/>
            <a:ext cx="2793950" cy="771376"/>
          </a:xfrm>
          <a:prstGeom prst="roundRect">
            <a:avLst>
              <a:gd name="adj" fmla="val 790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83028" y="3924300"/>
            <a:ext cx="25777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83028" y="428238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Time Reduced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121301" y="3790950"/>
            <a:ext cx="2793950" cy="771376"/>
          </a:xfrm>
          <a:prstGeom prst="roundRect">
            <a:avLst>
              <a:gd name="adj" fmla="val 790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29378" y="3924300"/>
            <a:ext cx="25777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29378" y="428238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Shortage Addressed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Opportunities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524298"/>
            <a:ext cx="4191000" cy="1536948"/>
          </a:xfrm>
          <a:prstGeom prst="roundRect">
            <a:avLst>
              <a:gd name="adj" fmla="val 3966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1524298"/>
            <a:ext cx="0" cy="1536948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1676698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8625" y="195857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Displacement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8625" y="2156668"/>
            <a:ext cx="391534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of employers report job reductions due to AI. Must pivot to AI-human hybrid roles.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28625" y="256416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Compliance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8625" y="2762250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scrutiny requires significant compliance infrastructure investment.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24400" y="1597521"/>
            <a:ext cx="4191000" cy="1390352"/>
          </a:xfrm>
          <a:prstGeom prst="roundRect">
            <a:avLst>
              <a:gd name="adj" fmla="val 4385"/>
            </a:avLst>
          </a:prstGeom>
          <a:solidFill>
            <a:srgbClr val="E8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48213" y="1597521"/>
            <a:ext cx="0" cy="1390352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4425" y="1749921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24425" y="2031802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Gig Economy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24425" y="2229892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of workforce in gig work. Launch SkillBridge Flex for project-based hiring.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24425" y="249078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Capability Centres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4425" y="2688878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118+ unicorns with GCCs in India. High-margin premium white-collar segment.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28600" y="4052143"/>
            <a:ext cx="2793950" cy="862757"/>
          </a:xfrm>
          <a:prstGeom prst="roundRect">
            <a:avLst>
              <a:gd name="adj" fmla="val 70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6108" y="4204543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56108" y="4615904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 Impact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174950" y="4052143"/>
            <a:ext cx="2793950" cy="862757"/>
          </a:xfrm>
          <a:prstGeom prst="roundRect">
            <a:avLst>
              <a:gd name="adj" fmla="val 70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02459" y="4204543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02459" y="4615904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 Workforce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21301" y="4052143"/>
            <a:ext cx="2793950" cy="862757"/>
          </a:xfrm>
          <a:prstGeom prst="roundRect">
            <a:avLst>
              <a:gd name="adj" fmla="val 70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48809" y="4204543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118+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48809" y="4615904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Unicorns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61218"/>
            <a:ext cx="49646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for Growth in 2026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85118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107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42318"/>
            <a:ext cx="38537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talent matching through AI-powered MatchScore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20764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2007989"/>
            <a:ext cx="31367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credentials via India Stack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44212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373660"/>
            <a:ext cx="3122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Tier-2/3 expansion driving sustainable growth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8077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739330"/>
            <a:ext cx="35381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profitability with 50%+ EBITDA margins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0241" y="3409801"/>
            <a:ext cx="114840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₹520 Cr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0241" y="3874591"/>
            <a:ext cx="1148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14726" y="3409801"/>
            <a:ext cx="114840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₹680 Cr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14726" y="3874591"/>
            <a:ext cx="1148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Target</a:t>
            </a:r>
            <a:endParaRPr lang="en-US" sz="900" dirty="0"/>
          </a:p>
        </p:txBody>
      </p:sp>
      <p:pic>
        <p:nvPicPr>
          <p:cNvPr id="16" name="Image 0" descr="/home/claude/skillbridge_pptx/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4648200"/>
            <a:ext cx="21717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Quarterly Business Review</dc:title>
  <dc:subject>Performance Review and 2026 Strategic Outlook</dc:subject>
  <dc:creator>SkillBridge India</dc:creator>
  <cp:lastModifiedBy>SkillBridge India</cp:lastModifiedBy>
  <cp:revision>1</cp:revision>
  <dcterms:created xsi:type="dcterms:W3CDTF">2025-12-26T05:11:31Z</dcterms:created>
  <dcterms:modified xsi:type="dcterms:W3CDTF">2025-12-26T05:11:31Z</dcterms:modified>
</cp:coreProperties>
</file>