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8327" y="1640681"/>
            <a:ext cx="4567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SkillBridge India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660399" y="2478881"/>
            <a:ext cx="3823201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Quarterly Business Review: Q4 2025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106553" y="3045619"/>
            <a:ext cx="29308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Board of Directors &amp; Executive Leadership Team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974649" y="3350419"/>
            <a:ext cx="11947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December 26,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A154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14.2M Monthly Active Users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 achieved in Q4 2025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412 Crore annual revenue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, exceeding targets by 12%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18% reduction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 in employer time-to-hire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Growth driven by AI/ML, Manufacturing, and BFSI sectors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35"/>
            <a:ext cx="7924800" cy="928688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54523"/>
            <a:ext cx="7924800" cy="928688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183210"/>
            <a:ext cx="7924800" cy="928688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111898"/>
            <a:ext cx="7924800" cy="928688"/>
          </a:xfrm>
          <a:prstGeom prst="rect">
            <a:avLst/>
          </a:prstGeom>
          <a:solidFill>
            <a:srgbClr val="36C5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A154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Market Landscape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554435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284C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Naukri.com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8200" y="1859235"/>
            <a:ext cx="7616952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42%</a:t>
            </a:r>
            <a:pPr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 market share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8200" y="2483123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284C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LinkedIn Jobs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8200" y="2787923"/>
            <a:ext cx="7616952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26%</a:t>
            </a:r>
            <a:pPr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 market share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3411810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284C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Indeed India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8200" y="3716610"/>
            <a:ext cx="7616952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18%</a:t>
            </a:r>
            <a:pPr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 market share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38200" y="4340498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SkillBridge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8200" y="4645298"/>
            <a:ext cx="7616952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14%</a:t>
            </a:r>
            <a:pPr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 market share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1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6C5F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User Growth Trends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Q1 2025: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 10.1 Million MAUs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Q2 2025: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 11.4 Million MAUs (+12.8%)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Q3 2025: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 12.9 Million MAUs (+13.1%)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Q4 2025: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 14.2 Million MAUs (+10.1%)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35"/>
            <a:ext cx="7924800" cy="938213"/>
          </a:xfrm>
          <a:prstGeom prst="rect">
            <a:avLst/>
          </a:prstGeom>
          <a:solidFill>
            <a:srgbClr val="E8F4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64048"/>
            <a:ext cx="7924800" cy="938213"/>
          </a:xfrm>
          <a:prstGeom prst="rect">
            <a:avLst/>
          </a:prstGeom>
          <a:solidFill>
            <a:srgbClr val="E8F4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202260"/>
            <a:ext cx="7924800" cy="938213"/>
          </a:xfrm>
          <a:prstGeom prst="rect">
            <a:avLst/>
          </a:prstGeom>
          <a:solidFill>
            <a:srgbClr val="E8F4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140473"/>
            <a:ext cx="7924800" cy="938213"/>
          </a:xfrm>
          <a:prstGeom prst="rect">
            <a:avLst/>
          </a:prstGeom>
          <a:solidFill>
            <a:srgbClr val="E8F4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A154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Revenue Breakdown (FY 2025)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554435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6C5F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Employer Subscriptions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8200" y="1859235"/>
            <a:ext cx="7616952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276 Crore (67%)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8200" y="2492648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6C5F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Featured &amp; Ads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8200" y="2797448"/>
            <a:ext cx="7616952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62 Crore (15%)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8200" y="3430860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6C5F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Data Access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8200" y="3735660"/>
            <a:ext cx="7616952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41 Crore (10%)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8200" y="4369073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6C5F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Credentials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8200" y="4673873"/>
            <a:ext cx="7616952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33 Crore (8%)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A154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Q4 2025 Peak Performance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15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Q4 Revenue: 119 Crore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EBITDA Margin: 50.4%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 (highest in year)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Direct Costs: 35 Crore | Marketing: 22 Crore | Operations: 2 Crore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1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B67D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Project 1: Pragati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15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Tier-2/3 City Expansion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02060"/>
            <a:ext cx="7620000" cy="115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35% of new job creation from non-metros in 2025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Localization in Hindi, Tamil, and Marathi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Expansion to Coimbatore, Jaipur, Ahmedabad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A154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Project 2: AI-Powered MatchScore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1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Large Language Model for Resume Screening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02060"/>
            <a:ext cx="7620000" cy="115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40% reduction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 in recruiter screening time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Scores candidate resumes against job descriptions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Significantly increases ROI for enterprise clients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1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6C5F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Project 3: Verified Credentials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15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Integration with India Stack &amp; DigiLocker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02060"/>
            <a:ext cx="7620000" cy="115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Candidates display verified badges for credentials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Addresses 82% talent shortage reporting gap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Provides pre-vetted talent pool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35"/>
            <a:ext cx="7924800" cy="1174403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00238"/>
            <a:ext cx="7924800" cy="1341090"/>
          </a:xfrm>
          <a:prstGeom prst="rect">
            <a:avLst/>
          </a:prstGeom>
          <a:solidFill>
            <a:srgbClr val="E8F4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41328"/>
            <a:ext cx="7924800" cy="1341090"/>
          </a:xfrm>
          <a:prstGeom prst="rect">
            <a:avLst/>
          </a:prstGeom>
          <a:solidFill>
            <a:srgbClr val="36C5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A154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Two-Year Revenue Projections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41248" y="1630635"/>
            <a:ext cx="74615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2025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981126"/>
            <a:ext cx="746150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412 Crore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805038"/>
            <a:ext cx="74615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2026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3155528"/>
            <a:ext cx="746150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520 Crore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3369841"/>
            <a:ext cx="7461504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2EB67D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+26% YoY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41248" y="4146128"/>
            <a:ext cx="74615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2027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4496619"/>
            <a:ext cx="746150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680 Crore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" y="4710931"/>
            <a:ext cx="7461504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+31% YoY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1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01E5A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Risks &amp; Mitigation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Automation Displacement: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 38% of employers report job reductions due to AI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Data Privacy Compliance: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 Digital Personal Data Protection (DPDP) Act requirements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A154B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Growth Opportunities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Gig Economy: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 24% of workforce in gig work → SkillBridge Flex portal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Global Capability Centers: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 118+ unicorns expanding in India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A1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2660" y="1847404"/>
            <a:ext cx="621867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6C5F0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2026: Positioned for Growth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893407" y="2624584"/>
            <a:ext cx="535711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Quality talent matching, verified credentials, tier-2/3 expansion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124239" y="3143696"/>
            <a:ext cx="28954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SkillBridge India - Driving recruitment innovation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2025-12-26T09:46:27Z</dcterms:created>
  <dcterms:modified xsi:type="dcterms:W3CDTF">2025-12-26T09:46:27Z</dcterms:modified>
</cp:coreProperties>
</file>