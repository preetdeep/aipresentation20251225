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  <p:embeddedFont>
      <p:font typeface="Plus Jakarta Sans"/>
      <p:regular r:id="rId24"/>
      <p:bold r:id="rId25"/>
      <p:italic r:id="rId26"/>
      <p:boldItalic r:id="rId27"/>
    </p:embeddedFont>
    <p:embeddedFont>
      <p:font typeface="Inter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7958E8-09C5-4C06-B6E7-9DF56ABE6CF1}">
  <a:tblStyle styleId="{0C7958E8-09C5-4C06-B6E7-9DF56ABE6CF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PlusJakartaSans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italic.fntdata"/><Relationship Id="rId25" Type="http://schemas.openxmlformats.org/officeDocument/2006/relationships/font" Target="fonts/PlusJakartaSans-bold.fntdata"/><Relationship Id="rId28" Type="http://schemas.openxmlformats.org/officeDocument/2006/relationships/font" Target="fonts/InterMedium-regular.fntdata"/><Relationship Id="rId27" Type="http://schemas.openxmlformats.org/officeDocument/2006/relationships/font" Target="fonts/PlusJakarta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Medium-boldItalic.fntdata"/><Relationship Id="rId30" Type="http://schemas.openxmlformats.org/officeDocument/2006/relationships/font" Target="fonts/InterMedium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Relationship Id="rId8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8.png"/><Relationship Id="rId6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1939230"/>
            <a:ext cx="11201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QUARTERLY BUSINESS REVIEW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358330"/>
            <a:ext cx="11201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Performance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3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&amp; 2026 Outlook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000125" y="4244280"/>
            <a:ext cx="104298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Quarterly Performance Summary: Q4 2025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762000" y="4244280"/>
            <a:ext cx="57150" cy="4266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562347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Office of the CEO December 26, 2025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043880"/>
            <a:ext cx="17145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919537"/>
            <a:ext cx="1066800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2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SUMMARY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7500" y="381000"/>
            <a:ext cx="1143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1285875" y="4348162"/>
            <a:ext cx="97155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244"/>
                </a:solidFill>
                <a:latin typeface="Inter Medium"/>
                <a:ea typeface="Inter Medium"/>
                <a:cs typeface="Inter Medium"/>
                <a:sym typeface="Inter Medium"/>
              </a:rPr>
              <a:t>SkillBridge India concluded FY2025 with robust performance, capitalizing on a </a:t>
            </a:r>
            <a:r>
              <a:rPr b="1" i="0" lang="en-US" sz="16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9% YoY growth</a:t>
            </a:r>
            <a:r>
              <a:rPr b="0" i="0" lang="en-US" sz="1650" u="none" cap="none" strike="noStrike">
                <a:solidFill>
                  <a:srgbClr val="002244"/>
                </a:solidFill>
                <a:latin typeface="Inter Medium"/>
                <a:ea typeface="Inter Medium"/>
                <a:cs typeface="Inter Medium"/>
                <a:sym typeface="Inter Medium"/>
              </a:rPr>
              <a:t> in digital recruitment. Strategic pivots toward AI-led screening and Skill-Verified credentials have successfully reduced employer friction.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2214562"/>
            <a:ext cx="22288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02244"/>
                </a:solidFill>
                <a:latin typeface="Inter"/>
                <a:ea typeface="Inter"/>
                <a:cs typeface="Inter"/>
                <a:sym typeface="Inter"/>
              </a:rPr>
              <a:t>412 Cr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3148012"/>
            <a:ext cx="2228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TOTAL FY25 REVENUE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800600" y="2214562"/>
            <a:ext cx="25527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02244"/>
                </a:solidFill>
                <a:latin typeface="Inter"/>
                <a:ea typeface="Inter"/>
                <a:cs typeface="Inter"/>
                <a:sym typeface="Inter"/>
              </a:rPr>
              <a:t>14.2 M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800600" y="3148012"/>
            <a:ext cx="2552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MONTHLY ACTIVE USERS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163050" y="2214562"/>
            <a:ext cx="22669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02244"/>
                </a:solidFill>
                <a:latin typeface="Inter"/>
                <a:ea typeface="Inter"/>
                <a:cs typeface="Inter"/>
                <a:sym typeface="Inter"/>
              </a:rPr>
              <a:t>18%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163050" y="3148012"/>
            <a:ext cx="2266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FASTER TIME-TO-HIRE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886075"/>
            <a:ext cx="10668000" cy="216202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2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COMPETITOR LANDSCAPE ANALYSIS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6381750" y="2886075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2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Positioning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381750" y="3295650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SkillBridge currently holds a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14% market share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 the white-collar segment.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477000" y="40337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572250" y="4034730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Edge: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Skill-verified matching &amp; Geolocation.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477000" y="440331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572250" y="4404270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Growth: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Outperforming niche startups in velocity.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477000" y="477285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572250" y="4773810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Focus: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Expansion into Tier-2/3 &amp; Digital Credentials.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2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ENGAGEMENT TRENDS (MAUS)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762000" y="5550247"/>
            <a:ext cx="10668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* 96% of users access the web via mobile, favoring our app-centric strategy. Q4 deceleration reflects a shift from quantity to quality talent acquisition.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835497"/>
            <a:ext cx="1066800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250" y="2300287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9825" y="3090862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2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MONETIZATION DIVERSIFICATION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6381750" y="2785169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2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Revenue Sources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381750" y="3289994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Employer Subscriptions (SaaS):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  276 Cr (67%)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381750" y="3754784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Featured Listings &amp; Ads: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  62 Cr (15%)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381750" y="421957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Resume/Data Access: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  41 Cr (10%)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381750" y="468436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Skill Assessment &amp; Credentials: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  33 Cr (8%)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2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QUARTERLY FINANCIAL PERFORMANCE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8" name="Google Shape;148;p18"/>
          <p:cNvGraphicFramePr/>
          <p:nvPr/>
        </p:nvGraphicFramePr>
        <p:xfrm>
          <a:off x="762000" y="22831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{0C7958E8-09C5-4C06-B6E7-9DF56ABE6CF1}</a:tableStyleId>
              </a:tblPr>
              <a:tblGrid>
                <a:gridCol w="1950100"/>
                <a:gridCol w="1898450"/>
                <a:gridCol w="2027625"/>
                <a:gridCol w="2712100"/>
                <a:gridCol w="2079725"/>
              </a:tblGrid>
              <a:tr h="5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Period (2025)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Revenue (Cr)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Marketing (Cr)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Operating Costs (Cr)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22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EBITDA Margin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AF37"/>
                    </a:solidFill>
                  </a:tcPr>
                </a:tc>
              </a:tr>
              <a:tr h="5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46.6%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119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22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50.4%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49" name="Google Shape;149;p18"/>
          <p:cNvSpPr txBox="1"/>
          <p:nvPr/>
        </p:nvSpPr>
        <p:spPr>
          <a:xfrm>
            <a:off x="762000" y="5407223"/>
            <a:ext cx="10668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* Q4 efficiency driven by optimized marketing spend and higher contribution from high-margin SaaS subscriptions.</a:t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762000" y="3398490"/>
            <a:ext cx="1950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2712094" y="3398490"/>
            <a:ext cx="18984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4610546" y="3398490"/>
            <a:ext cx="20276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6638180" y="3398490"/>
            <a:ext cx="2712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9350275" y="3398490"/>
            <a:ext cx="20797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762000" y="3968055"/>
            <a:ext cx="1950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2712094" y="3968055"/>
            <a:ext cx="18984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4610546" y="3968055"/>
            <a:ext cx="20276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6638180" y="3968055"/>
            <a:ext cx="2712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9350275" y="3968055"/>
            <a:ext cx="20797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762000" y="4537620"/>
            <a:ext cx="1950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2712094" y="4537620"/>
            <a:ext cx="18984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4610546" y="4537620"/>
            <a:ext cx="20276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638180" y="4537620"/>
            <a:ext cx="2712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9350275" y="4537620"/>
            <a:ext cx="20797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762000" y="5107185"/>
            <a:ext cx="1950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2712094" y="5107185"/>
            <a:ext cx="18984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4610546" y="5107185"/>
            <a:ext cx="20276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6638180" y="5107185"/>
            <a:ext cx="2712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9350275" y="5107185"/>
            <a:ext cx="20797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915667"/>
            <a:ext cx="4572000" cy="1392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762000" y="1549747"/>
            <a:ext cx="48006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22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Pragati: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000" u="none" cap="none" strike="noStrike">
                <a:solidFill>
                  <a:srgbClr val="D4AF3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Tier-2/3 Expansion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762000" y="2807047"/>
            <a:ext cx="4572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Expanding footprint into Coimbatore, Jaipur, and Ahmedabad. In 2025,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35% of new job creation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came from non-metros.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095375" y="4201417"/>
            <a:ext cx="41505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2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Localization Strategy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1095375" y="4534792"/>
            <a:ext cx="39528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Partnering with local industry bodies to localize UI in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Hindi, Tamil, and Marathi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062162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71750"/>
            <a:ext cx="5048250" cy="213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2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MATCHSCORE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8" name="Google Shape;18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071687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6381750" y="2114550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2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Large Language Model (LLM) Integration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381750" y="4996755"/>
            <a:ext cx="5048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Deploys proprietary LLM to score candidate resumes against job descriptions, significantly increasing ROI for enterprise clients.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762750" y="2952750"/>
            <a:ext cx="16002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40%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762750" y="3781425"/>
            <a:ext cx="4286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REDUCTION IN RECRUITER SCREENING TIME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709737"/>
            <a:ext cx="3403550" cy="2990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4150" y="1709737"/>
            <a:ext cx="3403550" cy="2990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26300" y="1709737"/>
            <a:ext cx="3403550" cy="299070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2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 TRUST: INDIA STACK INTEGRATION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2" name="Google Shape;20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7250" y="5081438"/>
            <a:ext cx="2857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5375" y="2090737"/>
            <a:ext cx="2736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1095375" y="2586037"/>
            <a:ext cx="28736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2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DigiLocker Synergy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1095375" y="2995612"/>
            <a:ext cx="27368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Integrating with DigiLocker to allow candidates to display Verified badges for their academic and professional history.</a:t>
            </a:r>
            <a:endParaRPr/>
          </a:p>
        </p:txBody>
      </p:sp>
      <p:pic>
        <p:nvPicPr>
          <p:cNvPr descr="image.png" id="206" name="Google Shape;20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27525" y="2090737"/>
            <a:ext cx="2736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4727525" y="2586037"/>
            <a:ext cx="28736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2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Vetted Talent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4727525" y="2995612"/>
            <a:ext cx="27368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Directly addresses the high talent-shortage reporting (82%) by providing pre-vetted, credible talent pools.</a:t>
            </a:r>
            <a:endParaRPr/>
          </a:p>
        </p:txBody>
      </p:sp>
      <p:pic>
        <p:nvPicPr>
          <p:cNvPr descr="image.png" id="209" name="Google Shape;209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090737"/>
            <a:ext cx="2736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8359675" y="2586037"/>
            <a:ext cx="28736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2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Employer Trust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8359675" y="2995612"/>
            <a:ext cx="27368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Positions SkillBridge as a premium alternative to legacy aggregators through verifiable data transparency.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614612"/>
            <a:ext cx="5095875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614612"/>
            <a:ext cx="5095875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2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2026-2027 REVENUE TARGETS</a:t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1333500" y="3186112"/>
            <a:ext cx="3952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2026 TARGET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1333500" y="3576637"/>
            <a:ext cx="39528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02244"/>
                </a:solidFill>
                <a:latin typeface="Inter"/>
                <a:ea typeface="Inter"/>
                <a:cs typeface="Inter"/>
                <a:sym typeface="Inter"/>
              </a:rPr>
              <a:t>520 Cr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1333500" y="4557712"/>
            <a:ext cx="3952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+26% YoY Growth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905625" y="3186112"/>
            <a:ext cx="3952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2027 TARGET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905625" y="3576637"/>
            <a:ext cx="39528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680 Cr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6905625" y="4557712"/>
            <a:ext cx="3952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+31% YoY Growth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400300"/>
            <a:ext cx="5048250" cy="3133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00300"/>
            <a:ext cx="5048250" cy="313357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2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FUTURE RISKS &amp; STRATEGIC OPPORTUNITIES</a:t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1095375" y="2781300"/>
            <a:ext cx="46005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381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Risks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6715125" y="2781300"/>
            <a:ext cx="46005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381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65F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Opportunities</a:t>
            </a:r>
            <a:endParaRPr/>
          </a:p>
        </p:txBody>
      </p:sp>
      <p:pic>
        <p:nvPicPr>
          <p:cNvPr descr="image.png" id="236" name="Google Shape;23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5375" y="2781300"/>
            <a:ext cx="43815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1095375" y="3686175"/>
            <a:ext cx="4381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Automation Displacement: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38% employers report job reductions due to AI.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Response: Pivot to AI-human hybrid roles.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1095375" y="4651920"/>
            <a:ext cx="4381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 Privacy: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Scrutiny from the DPDP Act requires significant infrastructure investment.</a:t>
            </a:r>
            <a:endParaRPr/>
          </a:p>
        </p:txBody>
      </p:sp>
      <p:pic>
        <p:nvPicPr>
          <p:cNvPr descr="image.png" id="239" name="Google Shape;23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5125" y="2781300"/>
            <a:ext cx="43815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6715125" y="3686175"/>
            <a:ext cx="4381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Gig Economy: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24% of workforce now gig-based. Opportunity to launch "SkillBridge Flex" portal.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6715125" y="4377630"/>
            <a:ext cx="4381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GCC Expansion: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118+ unicorns and hundreds of GCCs expanding in India; a high-margin premium segment.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24500" y="1434554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495300" y="2863304"/>
            <a:ext cx="112014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D4AF3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SkillBridge India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2286000" y="392057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Empowering India's digital future through verified skills, AI innovation, and market transparency.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762000" y="5223420"/>
            <a:ext cx="10668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www.skillbridgeindia.com | ceo@skillbridgeindia.com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5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2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762000" y="2402383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762000" y="3187154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762000" y="3971925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762000" y="3177629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762000" y="3177629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762000" y="396240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762000" y="396240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762000" y="474717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762000" y="474717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7" name="Google Shape;2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55180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5"/>
          <p:cNvSpPr txBox="1"/>
          <p:nvPr/>
        </p:nvSpPr>
        <p:spPr>
          <a:xfrm>
            <a:off x="1857375" y="2545258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https://tradebrains-wp.s3.ap-south-1.amazonaws.com/wp-content/uploads/2025/09/Untitled-design-2025-09-09T164707.089-1080x675.jpg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1857375" y="2790973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tradebrains.in</a:t>
            </a:r>
            <a:endParaRPr/>
          </a:p>
        </p:txBody>
      </p:sp>
      <p:pic>
        <p:nvPicPr>
          <p:cNvPr descr="image.png" id="270" name="Google Shape;27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3365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 txBox="1"/>
          <p:nvPr/>
        </p:nvSpPr>
        <p:spPr>
          <a:xfrm>
            <a:off x="1857375" y="3330029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https://sftevolve.com/wp-content/uploads/2025/06/banner-3.jpg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1857375" y="3575744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sftevolve.com</a:t>
            </a:r>
            <a:endParaRPr/>
          </a:p>
        </p:txBody>
      </p:sp>
      <p:pic>
        <p:nvPicPr>
          <p:cNvPr descr="image.png" id="273" name="Google Shape;27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1213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1857375" y="4114800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https://negd.gov.in/wp-content/uploads/2025/09/Screenshot_3.png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1857375" y="4360515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negd.gov.in</a:t>
            </a:r>
            <a:endParaRPr/>
          </a:p>
        </p:txBody>
      </p:sp>
      <p:pic>
        <p:nvPicPr>
          <p:cNvPr descr="image.png" id="276" name="Google Shape;27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9061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 txBox="1"/>
          <p:nvPr/>
        </p:nvSpPr>
        <p:spPr>
          <a:xfrm>
            <a:off x="1857375" y="4899570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https://media.istockphoto.com/id/1656369677/photo/towering-over-the-city.jpg?s=612x612&amp;w=0&amp;k=20&amp;c=i150ZqfGeLSbb-8pe9irpnfcNNFuGGziXE-jnwGHgGI=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1857375" y="5145285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