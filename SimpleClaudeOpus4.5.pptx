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911257" y="761107"/>
            <a:ext cx="332148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300"/>
              </a:spcBef>
              <a:spcAft>
                <a:spcPts val="1500"/>
              </a:spcAft>
              <a:buNone/>
            </a:pPr>
            <a:r>
              <a:rPr lang="en-US" sz="825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OFFICE OF THE CHIEF ECONOMIC ADVISER</a:t>
            </a:r>
            <a:endParaRPr lang="en-US" sz="825" dirty="0"/>
          </a:p>
        </p:txBody>
      </p:sp>
      <p:sp>
        <p:nvSpPr>
          <p:cNvPr id="3" name="Text 1"/>
          <p:cNvSpPr/>
          <p:nvPr/>
        </p:nvSpPr>
        <p:spPr>
          <a:xfrm>
            <a:off x="2987464" y="1288703"/>
            <a:ext cx="316892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Bef>
                <a:spcPts val="300"/>
              </a:spcBef>
              <a:spcAft>
                <a:spcPts val="3000"/>
              </a:spcAft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MINISTRY OF LABOUR AND EMPLOYMENT, GOVERNMENT OF INDIA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1951701" y="1955453"/>
            <a:ext cx="5240450" cy="89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510"/>
              </a:lnSpc>
              <a:spcAft>
                <a:spcPts val="1500"/>
              </a:spcAft>
              <a:buNone/>
            </a:pPr>
            <a:r>
              <a:rPr lang="en-US" sz="27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Digital Public Infrastructure (DPI)</a:t>
            </a:r>
            <a:endParaRPr lang="en-US" sz="2700" dirty="0"/>
          </a:p>
          <a:p>
            <a:pPr algn="ctr" indent="0" marL="0">
              <a:lnSpc>
                <a:spcPts val="3510"/>
              </a:lnSpc>
              <a:spcAft>
                <a:spcPts val="1500"/>
              </a:spcAft>
              <a:buNone/>
            </a:pPr>
            <a:r>
              <a:rPr lang="en-US" sz="27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 Employment Matching in India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191000" y="3380333"/>
            <a:ext cx="762000" cy="28575"/>
          </a:xfrm>
          <a:prstGeom prst="rect">
            <a:avLst/>
          </a:prstGeom>
          <a:solidFill>
            <a:srgbClr val="C9A22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228834" y="3789908"/>
            <a:ext cx="268618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MEMORANDUM FOR THE CABINET SECRETARY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102620" y="4235648"/>
            <a:ext cx="93876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750"/>
              </a:spcBef>
              <a:spcAft>
                <a:spcPts val="300"/>
              </a:spcAft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December 25, 2025</a:t>
            </a:r>
            <a:endParaRPr lang="en-US" sz="82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28600"/>
            <a:ext cx="428453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Executive Summary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381000" y="1550789"/>
            <a:ext cx="8382000" cy="1106686"/>
          </a:xfrm>
          <a:prstGeom prst="roundRect">
            <a:avLst>
              <a:gd name="adj" fmla="val 6885"/>
            </a:avLst>
          </a:prstGeom>
          <a:solidFill>
            <a:srgbClr val="1A294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400050" y="1550789"/>
            <a:ext cx="0" cy="1106686"/>
          </a:xfrm>
          <a:prstGeom prst="line">
            <a:avLst/>
          </a:prstGeom>
          <a:noFill/>
          <a:ln w="38100">
            <a:solidFill>
              <a:srgbClr val="C9A2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09600" y="1779389"/>
            <a:ext cx="812215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975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CHALLENGE</a:t>
            </a:r>
            <a:endParaRPr lang="en-US" sz="975" dirty="0"/>
          </a:p>
        </p:txBody>
      </p:sp>
      <p:sp>
        <p:nvSpPr>
          <p:cNvPr id="6" name="Text 4"/>
          <p:cNvSpPr/>
          <p:nvPr/>
        </p:nvSpPr>
        <p:spPr>
          <a:xfrm>
            <a:off x="609600" y="2028825"/>
            <a:ext cx="8122158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Despite a declining unemployment rate—recorded at </a:t>
            </a:r>
            <a:pPr algn="l" indent="0" marL="0">
              <a:lnSpc>
                <a:spcPts val="157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3.2% in 2023-24</a:t>
            </a:r>
            <a:pPr algn="l" indent="0" marL="0">
              <a:lnSpc>
                <a:spcPts val="157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—structural friction in India's labor market persists due to information asymmetry and high search costs.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81000" y="2847975"/>
            <a:ext cx="8382000" cy="1106686"/>
          </a:xfrm>
          <a:prstGeom prst="roundRect">
            <a:avLst>
              <a:gd name="adj" fmla="val 6885"/>
            </a:avLst>
          </a:prstGeom>
          <a:solidFill>
            <a:srgbClr val="1A294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400050" y="2847975"/>
            <a:ext cx="0" cy="1106686"/>
          </a:xfrm>
          <a:prstGeom prst="line">
            <a:avLst/>
          </a:prstGeom>
          <a:noFill/>
          <a:ln w="38100">
            <a:solidFill>
              <a:srgbClr val="C9A2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09600" y="3076575"/>
            <a:ext cx="812215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975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PROPOSAL</a:t>
            </a:r>
            <a:endParaRPr lang="en-US" sz="975" dirty="0"/>
          </a:p>
        </p:txBody>
      </p:sp>
      <p:sp>
        <p:nvSpPr>
          <p:cNvPr id="10" name="Text 8"/>
          <p:cNvSpPr/>
          <p:nvPr/>
        </p:nvSpPr>
        <p:spPr>
          <a:xfrm>
            <a:off x="609600" y="3326011"/>
            <a:ext cx="8122158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Evolution of existing portals into a comprehensive </a:t>
            </a:r>
            <a:pPr algn="l" indent="0" marL="0">
              <a:lnSpc>
                <a:spcPts val="157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Public Infrastructure for Employment</a:t>
            </a:r>
            <a:pPr algn="l" indent="0" marL="0">
              <a:lnSpc>
                <a:spcPts val="157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utilizing the "India Stack" model to bridge the gap between </a:t>
            </a:r>
            <a:pPr algn="l" indent="0" marL="0">
              <a:lnSpc>
                <a:spcPts val="157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564 million workers</a:t>
            </a:r>
            <a:pPr algn="l" indent="0" marL="0">
              <a:lnSpc>
                <a:spcPts val="157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and the formal economy.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81000" y="4781550"/>
            <a:ext cx="256868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Ministry of Labour and Employment | Cabinet Memorandum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28600"/>
            <a:ext cx="428453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Policy Recommendation</a:t>
            </a:r>
            <a:endParaRPr lang="en-US" sz="2100" dirty="0"/>
          </a:p>
        </p:txBody>
      </p:sp>
      <p:pic>
        <p:nvPicPr>
          <p:cNvPr id="3" name="Image 0" descr="/tmp/rasterized-gradient-4efa60c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1000" y="838200"/>
            <a:ext cx="8382000" cy="122292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09600" y="1104900"/>
            <a:ext cx="8083296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6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24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RozgarStack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609600" y="1607790"/>
            <a:ext cx="808329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Unified, API-based Open Network for Employment (ONE)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381000" y="2917478"/>
            <a:ext cx="4114800" cy="1045815"/>
          </a:xfrm>
          <a:prstGeom prst="roundRect">
            <a:avLst>
              <a:gd name="adj" fmla="val 7286"/>
            </a:avLst>
          </a:prstGeom>
          <a:solidFill>
            <a:srgbClr val="1A294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552450" y="3127028"/>
            <a:ext cx="384733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300"/>
              </a:spcBef>
              <a:spcAft>
                <a:spcPts val="750"/>
              </a:spcAft>
              <a:buNone/>
            </a:pPr>
            <a:r>
              <a:rPr lang="en-US" sz="9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 CENTRALIZED PORTAL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552450" y="3382268"/>
            <a:ext cx="3847338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RozgarStack serves as a foundational layer allowing private job boards, skilling institutes, and state governments to interoperate.</a:t>
            </a:r>
            <a:endParaRPr lang="en-US" sz="975" dirty="0"/>
          </a:p>
        </p:txBody>
      </p:sp>
      <p:sp>
        <p:nvSpPr>
          <p:cNvPr id="9" name="Text 6"/>
          <p:cNvSpPr/>
          <p:nvPr/>
        </p:nvSpPr>
        <p:spPr>
          <a:xfrm>
            <a:off x="4648200" y="2917478"/>
            <a:ext cx="4114800" cy="1045815"/>
          </a:xfrm>
          <a:prstGeom prst="roundRect">
            <a:avLst>
              <a:gd name="adj" fmla="val 7286"/>
            </a:avLst>
          </a:prstGeom>
          <a:solidFill>
            <a:srgbClr val="1A294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4819650" y="3127028"/>
            <a:ext cx="384733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300"/>
              </a:spcBef>
              <a:spcAft>
                <a:spcPts val="750"/>
              </a:spcAft>
              <a:buNone/>
            </a:pPr>
            <a:r>
              <a:rPr lang="en-US" sz="9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DIGITAL CREDENTIALS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4819650" y="3382268"/>
            <a:ext cx="3847338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Provides verified digital credentials via DigiLocker and Aadhaar-seeded worker profiles to reduce the "trust deficit" in hiring.</a:t>
            </a:r>
            <a:endParaRPr lang="en-US" sz="975" dirty="0"/>
          </a:p>
        </p:txBody>
      </p:sp>
      <p:sp>
        <p:nvSpPr>
          <p:cNvPr id="12" name="Text 9"/>
          <p:cNvSpPr/>
          <p:nvPr/>
        </p:nvSpPr>
        <p:spPr>
          <a:xfrm>
            <a:off x="381000" y="4781550"/>
            <a:ext cx="256868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Ministry of Labour and Employment | Cabinet Memorandum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28600"/>
            <a:ext cx="600417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95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Reduction of Search Costs and Information Asymmetry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381000" y="1643658"/>
            <a:ext cx="3524250" cy="1097161"/>
          </a:xfrm>
          <a:prstGeom prst="roundRect">
            <a:avLst>
              <a:gd name="adj" fmla="val 6945"/>
            </a:avLst>
          </a:prstGeom>
          <a:solidFill>
            <a:srgbClr val="1A294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71500" y="1872258"/>
            <a:ext cx="3206115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Bef>
                <a:spcPts val="300"/>
              </a:spcBef>
              <a:spcAft>
                <a:spcPts val="750"/>
              </a:spcAft>
              <a:buNone/>
            </a:pPr>
            <a:r>
              <a:rPr lang="en-US" sz="975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PROBLEM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571500" y="2140744"/>
            <a:ext cx="3206115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Job seekers in rural clusters often rely on informal intermediaries, leading to exploitation.</a:t>
            </a:r>
            <a:endParaRPr lang="en-US" sz="975" dirty="0"/>
          </a:p>
        </p:txBody>
      </p:sp>
      <p:sp>
        <p:nvSpPr>
          <p:cNvPr id="6" name="Text 4"/>
          <p:cNvSpPr/>
          <p:nvPr/>
        </p:nvSpPr>
        <p:spPr>
          <a:xfrm>
            <a:off x="381000" y="2893219"/>
            <a:ext cx="3524250" cy="911423"/>
          </a:xfrm>
          <a:prstGeom prst="roundRect">
            <a:avLst>
              <a:gd name="adj" fmla="val 8361"/>
            </a:avLst>
          </a:prstGeom>
          <a:solidFill>
            <a:srgbClr val="1A294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71500" y="3121819"/>
            <a:ext cx="3206115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Bef>
                <a:spcPts val="300"/>
              </a:spcBef>
              <a:spcAft>
                <a:spcPts val="750"/>
              </a:spcAft>
              <a:buNone/>
            </a:pPr>
            <a:r>
              <a:rPr lang="en-US" sz="975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DPI SOLUTION</a:t>
            </a:r>
            <a:endParaRPr lang="en-US" sz="975" dirty="0"/>
          </a:p>
        </p:txBody>
      </p:sp>
      <p:sp>
        <p:nvSpPr>
          <p:cNvPr id="8" name="Text 6"/>
          <p:cNvSpPr/>
          <p:nvPr/>
        </p:nvSpPr>
        <p:spPr>
          <a:xfrm>
            <a:off x="571500" y="3390305"/>
            <a:ext cx="3206115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DPI-led approach enables </a:t>
            </a:r>
            <a:pPr algn="l" indent="0" marL="0">
              <a:lnSpc>
                <a:spcPts val="1463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75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"Discoverability-at-Scale"</a:t>
            </a:r>
            <a:endParaRPr lang="en-US" sz="975" dirty="0"/>
          </a:p>
        </p:txBody>
      </p:sp>
      <p:sp>
        <p:nvSpPr>
          <p:cNvPr id="9" name="Text 7"/>
          <p:cNvSpPr/>
          <p:nvPr/>
        </p:nvSpPr>
        <p:spPr>
          <a:xfrm>
            <a:off x="4133850" y="1928961"/>
            <a:ext cx="4629150" cy="1590229"/>
          </a:xfrm>
          <a:prstGeom prst="roundRect">
            <a:avLst>
              <a:gd name="adj" fmla="val 4792"/>
            </a:avLst>
          </a:prstGeom>
          <a:solidFill>
            <a:srgbClr val="1A2942"/>
          </a:solidFill>
          <a:ln w="9525">
            <a:solidFill>
              <a:srgbClr val="C9A22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333875" y="2167086"/>
            <a:ext cx="431368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spcAft>
                <a:spcPts val="900"/>
              </a:spcAft>
              <a:buNone/>
            </a:pPr>
            <a:r>
              <a:rPr lang="en-US" sz="825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</a:t>
            </a:r>
            <a:endParaRPr lang="en-US" sz="825" dirty="0"/>
          </a:p>
        </p:txBody>
      </p:sp>
      <p:sp>
        <p:nvSpPr>
          <p:cNvPr id="11" name="Text 9"/>
          <p:cNvSpPr/>
          <p:nvPr/>
        </p:nvSpPr>
        <p:spPr>
          <a:xfrm>
            <a:off x="4333875" y="2427982"/>
            <a:ext cx="4313682" cy="853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Integrating the e-Shram database (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30.98 crore registrations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with private platforms via open APIs enables a construction worker in Bihar to be discovered by a contractor in Maharashtra instantly,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bypassing middleman fees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81000" y="4781550"/>
            <a:ext cx="256868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Ministry of Labour and Employment | Cabinet Memorandum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28600"/>
            <a:ext cx="486746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95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Verification and Trust via Digital Credentials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381000" y="1457920"/>
            <a:ext cx="4076700" cy="1097161"/>
          </a:xfrm>
          <a:prstGeom prst="roundRect">
            <a:avLst>
              <a:gd name="adj" fmla="val 6945"/>
            </a:avLst>
          </a:prstGeom>
          <a:solidFill>
            <a:srgbClr val="1A294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71500" y="1686520"/>
            <a:ext cx="376961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Bef>
                <a:spcPts val="300"/>
              </a:spcBef>
              <a:spcAft>
                <a:spcPts val="750"/>
              </a:spcAft>
              <a:buNone/>
            </a:pPr>
            <a:r>
              <a:rPr lang="en-US" sz="975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CHALLENGE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571500" y="1955006"/>
            <a:ext cx="3769614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SMEs often hesitate to hire remotely due to difficulty of verifying skills.</a:t>
            </a:r>
            <a:endParaRPr lang="en-US" sz="975" dirty="0"/>
          </a:p>
        </p:txBody>
      </p:sp>
      <p:sp>
        <p:nvSpPr>
          <p:cNvPr id="6" name="Text 4"/>
          <p:cNvSpPr/>
          <p:nvPr/>
        </p:nvSpPr>
        <p:spPr>
          <a:xfrm>
            <a:off x="381000" y="2707481"/>
            <a:ext cx="4076700" cy="1282898"/>
          </a:xfrm>
          <a:prstGeom prst="roundRect">
            <a:avLst>
              <a:gd name="adj" fmla="val 5940"/>
            </a:avLst>
          </a:prstGeom>
          <a:solidFill>
            <a:srgbClr val="1A294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71500" y="2936081"/>
            <a:ext cx="376961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Bef>
                <a:spcPts val="300"/>
              </a:spcBef>
              <a:spcAft>
                <a:spcPts val="750"/>
              </a:spcAft>
              <a:buNone/>
            </a:pPr>
            <a:r>
              <a:rPr lang="en-US" sz="975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SOLUTION</a:t>
            </a:r>
            <a:endParaRPr lang="en-US" sz="975" dirty="0"/>
          </a:p>
        </p:txBody>
      </p:sp>
      <p:sp>
        <p:nvSpPr>
          <p:cNvPr id="8" name="Text 6"/>
          <p:cNvSpPr/>
          <p:nvPr/>
        </p:nvSpPr>
        <p:spPr>
          <a:xfrm>
            <a:off x="571500" y="3204567"/>
            <a:ext cx="3769614" cy="5572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Leveraging </a:t>
            </a:r>
            <a:pPr algn="l" indent="0" marL="0">
              <a:lnSpc>
                <a:spcPts val="1463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75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 India Digital Hub (SIDH)</a:t>
            </a:r>
            <a:pPr algn="l" indent="0" marL="0">
              <a:lnSpc>
                <a:spcPts val="1463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a candidate's vocational certification can be "pushed" as a verifiable credential to an employer's dashboard.</a:t>
            </a:r>
            <a:endParaRPr lang="en-US" sz="975" dirty="0"/>
          </a:p>
        </p:txBody>
      </p:sp>
      <p:pic>
        <p:nvPicPr>
          <p:cNvPr id="9" name="Image 0" descr="/tmp/rasterized-gradient-5d75796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86300" y="1560761"/>
            <a:ext cx="4076700" cy="1262807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878705" y="1827461"/>
            <a:ext cx="369189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5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975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BGV Time Reduction</a:t>
            </a:r>
            <a:endParaRPr lang="en-US" sz="975" dirty="0"/>
          </a:p>
        </p:txBody>
      </p:sp>
      <p:sp>
        <p:nvSpPr>
          <p:cNvPr id="11" name="Text 8"/>
          <p:cNvSpPr/>
          <p:nvPr/>
        </p:nvSpPr>
        <p:spPr>
          <a:xfrm>
            <a:off x="4878705" y="2076896"/>
            <a:ext cx="3691890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7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27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Weeks → Seconds</a:t>
            </a:r>
            <a:endParaRPr lang="en-US" sz="2700" dirty="0"/>
          </a:p>
        </p:txBody>
      </p:sp>
      <p:sp>
        <p:nvSpPr>
          <p:cNvPr id="12" name="Text 9"/>
          <p:cNvSpPr/>
          <p:nvPr/>
        </p:nvSpPr>
        <p:spPr>
          <a:xfrm>
            <a:off x="4686300" y="2975967"/>
            <a:ext cx="4076700" cy="911423"/>
          </a:xfrm>
          <a:prstGeom prst="roundRect">
            <a:avLst>
              <a:gd name="adj" fmla="val 8361"/>
            </a:avLst>
          </a:prstGeom>
          <a:solidFill>
            <a:srgbClr val="1A294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4876800" y="3204567"/>
            <a:ext cx="376961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Bef>
                <a:spcPts val="300"/>
              </a:spcBef>
              <a:spcAft>
                <a:spcPts val="750"/>
              </a:spcAft>
              <a:buNone/>
            </a:pPr>
            <a:r>
              <a:rPr lang="en-US" sz="975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BENEFICIARIES</a:t>
            </a:r>
            <a:endParaRPr lang="en-US" sz="975" dirty="0"/>
          </a:p>
        </p:txBody>
      </p:sp>
      <p:sp>
        <p:nvSpPr>
          <p:cNvPr id="14" name="Text 11"/>
          <p:cNvSpPr/>
          <p:nvPr/>
        </p:nvSpPr>
        <p:spPr>
          <a:xfrm>
            <a:off x="4876800" y="3473053"/>
            <a:ext cx="3769614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High-turnover gig and retail sectors</a:t>
            </a:r>
            <a:endParaRPr lang="en-US" sz="975" dirty="0"/>
          </a:p>
        </p:txBody>
      </p:sp>
      <p:sp>
        <p:nvSpPr>
          <p:cNvPr id="15" name="Text 12"/>
          <p:cNvSpPr/>
          <p:nvPr/>
        </p:nvSpPr>
        <p:spPr>
          <a:xfrm>
            <a:off x="381000" y="4781550"/>
            <a:ext cx="256868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Ministry of Labour and Employment | Cabinet Memorandum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28600"/>
            <a:ext cx="4692587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95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Targeted Social Security and Formalization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381000" y="1099393"/>
            <a:ext cx="8382000" cy="657225"/>
          </a:xfrm>
          <a:prstGeom prst="roundRect">
            <a:avLst>
              <a:gd name="adj" fmla="val 11594"/>
            </a:avLst>
          </a:prstGeom>
          <a:solidFill>
            <a:srgbClr val="1A294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71500" y="1327993"/>
            <a:ext cx="816102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DPI allows the government to link employment matching with the </a:t>
            </a:r>
            <a:pPr algn="l" indent="0" marL="0">
              <a:lnSpc>
                <a:spcPts val="157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Employment Linked Incentive (ELI)</a:t>
            </a:r>
            <a:pPr algn="l" indent="0" marL="0">
              <a:lnSpc>
                <a:spcPts val="157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schemes.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381000" y="1909018"/>
            <a:ext cx="8382000" cy="1258937"/>
          </a:xfrm>
          <a:prstGeom prst="roundRect">
            <a:avLst>
              <a:gd name="adj" fmla="val 6053"/>
            </a:avLst>
          </a:prstGeom>
          <a:solidFill>
            <a:srgbClr val="1A2942"/>
          </a:solidFill>
          <a:ln w="9525">
            <a:solidFill>
              <a:srgbClr val="C9A22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19125" y="2185243"/>
            <a:ext cx="806386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spcAft>
                <a:spcPts val="1050"/>
              </a:spcAft>
              <a:buNone/>
            </a:pPr>
            <a:r>
              <a:rPr lang="en-US" sz="825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 PRADHAN MANTRI VIKSIT BHARAT ROZGAR YOJANA</a:t>
            </a:r>
            <a:endParaRPr lang="en-US" sz="825" dirty="0"/>
          </a:p>
        </p:txBody>
      </p:sp>
      <p:sp>
        <p:nvSpPr>
          <p:cNvPr id="7" name="Text 5"/>
          <p:cNvSpPr/>
          <p:nvPr/>
        </p:nvSpPr>
        <p:spPr>
          <a:xfrm>
            <a:off x="619125" y="2465189"/>
            <a:ext cx="8063865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Incentives can be auto-credited to employers' and employees' Aadhaar-seeded bank accounts once a digital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"Proof of Employment"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is generated on the RozgarStack.</a:t>
            </a:r>
            <a:endParaRPr lang="en-US" sz="1050" dirty="0"/>
          </a:p>
        </p:txBody>
      </p:sp>
      <p:pic>
        <p:nvPicPr>
          <p:cNvPr id="8" name="Image 0" descr="/tmp/rasterized-gradient-46204e2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1000" y="3320355"/>
            <a:ext cx="4114800" cy="1028551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34162" y="3548955"/>
            <a:ext cx="3808476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9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21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Leakage</a:t>
            </a:r>
            <a:endParaRPr lang="en-US" sz="2100" dirty="0"/>
          </a:p>
        </p:txBody>
      </p:sp>
      <p:sp>
        <p:nvSpPr>
          <p:cNvPr id="10" name="Text 7"/>
          <p:cNvSpPr/>
          <p:nvPr/>
        </p:nvSpPr>
        <p:spPr>
          <a:xfrm>
            <a:off x="534162" y="3960316"/>
            <a:ext cx="380847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benefit transfer</a:t>
            </a:r>
            <a:endParaRPr lang="en-US" sz="900" dirty="0"/>
          </a:p>
        </p:txBody>
      </p:sp>
      <p:pic>
        <p:nvPicPr>
          <p:cNvPr id="11" name="Image 1" descr="/tmp/rasterized-gradient-1b9cc0d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8200" y="3320355"/>
            <a:ext cx="4114800" cy="102855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801362" y="3548955"/>
            <a:ext cx="3808476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9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21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Higher Formalization</a:t>
            </a:r>
            <a:endParaRPr lang="en-US" sz="2100" dirty="0"/>
          </a:p>
        </p:txBody>
      </p:sp>
      <p:sp>
        <p:nvSpPr>
          <p:cNvPr id="13" name="Text 9"/>
          <p:cNvSpPr/>
          <p:nvPr/>
        </p:nvSpPr>
        <p:spPr>
          <a:xfrm>
            <a:off x="4801362" y="3960316"/>
            <a:ext cx="380847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Increased compliance rates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381000" y="4781550"/>
            <a:ext cx="256868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Ministry of Labour and Employment | Cabinet Memorandum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28600"/>
            <a:ext cx="428453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Adoption Data: e-Shram Platform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381000" y="552450"/>
            <a:ext cx="854964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45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States as of August 2025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850630" y="2748855"/>
            <a:ext cx="1471595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 PLACEHOLDER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381000" y="4781550"/>
            <a:ext cx="256868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Ministry of Labour and Employment | Cabinet Memorandum</a:t>
            </a:r>
            <a:endParaRPr lang="en-US" sz="7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1000" y="1017240"/>
          <a:ext cx="8382000" cy="3650010"/>
        </p:xfrm>
        <a:graphic>
          <a:graphicData uri="http://schemas.openxmlformats.org/drawingml/2006/table">
            <a:tbl>
              <a:tblPr/>
              <a:tblGrid>
                <a:gridCol w="2011680"/>
                <a:gridCol w="1645920"/>
                <a:gridCol w="1828800"/>
                <a:gridCol w="2743200"/>
              </a:tblGrid>
              <a:tr h="60833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A16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41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1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1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1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2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A16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Registrations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41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1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1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1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2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A16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 Achievement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41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1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1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1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2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A16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Primary Worker Category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41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1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1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1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227"/>
                    </a:solidFill>
                  </a:tcPr>
                </a:tc>
              </a:tr>
              <a:tr h="60833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Uttar Pradesh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41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1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1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1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9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8.37 Crore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41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1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1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1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9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9A2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124%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41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1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1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1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94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Agriculture &amp; Construction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41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1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1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1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942"/>
                    </a:solidFill>
                  </a:tcPr>
                </a:tc>
              </a:tr>
              <a:tr h="60833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Bihar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41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1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1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1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2.96 Crore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41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1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1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1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41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1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1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1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Migrant Labor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41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1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1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1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60833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West Bengal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41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1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1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1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9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2.64 Crore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41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1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1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1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9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92%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41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1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1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1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94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Apparel &amp; Handloom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41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1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1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1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942"/>
                    </a:solidFill>
                  </a:tcPr>
                </a:tc>
              </a:tr>
              <a:tr h="60833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Maharashtra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41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1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1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1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1.73 Crore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41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1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1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1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41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1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1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1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Manufacturing &amp; Services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41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1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1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1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60833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Madhya Pradesh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41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1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1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1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9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1.84 Crore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41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1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1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1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9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41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1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1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1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94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Agriculture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41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1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1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1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94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28600"/>
            <a:ext cx="428453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 and Next Steps</a:t>
            </a:r>
            <a:endParaRPr lang="en-US" sz="2100" dirty="0"/>
          </a:p>
        </p:txBody>
      </p:sp>
      <p:pic>
        <p:nvPicPr>
          <p:cNvPr id="3" name="Image 0" descr="/tmp/rasterized-gradient-b14309e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1000" y="838200"/>
            <a:ext cx="8382000" cy="11239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7700" y="1143000"/>
            <a:ext cx="8005572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5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Transitioning to a DPI model will shift the government's role from a </a:t>
            </a:r>
            <a:pPr algn="l" indent="0" marL="0">
              <a:lnSpc>
                <a:spcPts val="202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5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"job provider"</a:t>
            </a:r>
            <a:pPr algn="l" indent="0" marL="0">
              <a:lnSpc>
                <a:spcPts val="202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5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to a </a:t>
            </a:r>
            <a:pPr algn="l" indent="0" marL="0">
              <a:lnSpc>
                <a:spcPts val="202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5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"market enabler"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381000" y="2842320"/>
            <a:ext cx="4114800" cy="1135261"/>
          </a:xfrm>
          <a:prstGeom prst="roundRect">
            <a:avLst>
              <a:gd name="adj" fmla="val 6712"/>
            </a:avLst>
          </a:prstGeom>
          <a:solidFill>
            <a:srgbClr val="1A294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571500" y="3070920"/>
            <a:ext cx="380847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Bef>
                <a:spcPts val="300"/>
              </a:spcBef>
              <a:spcAft>
                <a:spcPts val="750"/>
              </a:spcAft>
              <a:buNone/>
            </a:pPr>
            <a:r>
              <a:rPr lang="en-US" sz="975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CATALYZE PRIVATE INNOVATION</a:t>
            </a:r>
            <a:endParaRPr lang="en-US" sz="975" dirty="0"/>
          </a:p>
        </p:txBody>
      </p:sp>
      <p:sp>
        <p:nvSpPr>
          <p:cNvPr id="7" name="Text 4"/>
          <p:cNvSpPr/>
          <p:nvPr/>
        </p:nvSpPr>
        <p:spPr>
          <a:xfrm>
            <a:off x="571500" y="3377505"/>
            <a:ext cx="3808476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Enable private job boards, skilling institutes, and platforms to build on top of RozgarStack.</a:t>
            </a:r>
            <a:endParaRPr lang="en-US" sz="975" dirty="0"/>
          </a:p>
        </p:txBody>
      </p:sp>
      <p:sp>
        <p:nvSpPr>
          <p:cNvPr id="8" name="Text 5"/>
          <p:cNvSpPr/>
          <p:nvPr/>
        </p:nvSpPr>
        <p:spPr>
          <a:xfrm>
            <a:off x="4648200" y="2842320"/>
            <a:ext cx="4114800" cy="1135261"/>
          </a:xfrm>
          <a:prstGeom prst="roundRect">
            <a:avLst>
              <a:gd name="adj" fmla="val 6712"/>
            </a:avLst>
          </a:prstGeom>
          <a:solidFill>
            <a:srgbClr val="1A294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4838700" y="3070920"/>
            <a:ext cx="380847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Bef>
                <a:spcPts val="300"/>
              </a:spcBef>
              <a:spcAft>
                <a:spcPts val="750"/>
              </a:spcAft>
              <a:buNone/>
            </a:pPr>
            <a:r>
              <a:rPr lang="en-US" sz="975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PROTECT WORKER RIGHTS</a:t>
            </a:r>
            <a:endParaRPr lang="en-US" sz="975" dirty="0"/>
          </a:p>
        </p:txBody>
      </p:sp>
      <p:sp>
        <p:nvSpPr>
          <p:cNvPr id="10" name="Text 7"/>
          <p:cNvSpPr/>
          <p:nvPr/>
        </p:nvSpPr>
        <p:spPr>
          <a:xfrm>
            <a:off x="4838700" y="3377505"/>
            <a:ext cx="3808476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Ensure portability of credentials, social security linkages, and elimination of exploitative intermediaries.</a:t>
            </a:r>
            <a:endParaRPr lang="en-US" sz="975" dirty="0"/>
          </a:p>
        </p:txBody>
      </p:sp>
      <p:sp>
        <p:nvSpPr>
          <p:cNvPr id="11" name="Text 8"/>
          <p:cNvSpPr/>
          <p:nvPr/>
        </p:nvSpPr>
        <p:spPr>
          <a:xfrm>
            <a:off x="381000" y="4781550"/>
            <a:ext cx="256868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Ministry of Labour and Employment | Cabinet Memorandum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Digital Public Infrastructure for Employment Matching in India</dc:title>
  <dc:subject>PptxGenJS Presentation</dc:subject>
  <dc:creator>Ministry of Labour and Employment</dc:creator>
  <cp:lastModifiedBy>Ministry of Labour and Employment</cp:lastModifiedBy>
  <cp:revision>1</cp:revision>
  <dcterms:created xsi:type="dcterms:W3CDTF">2025-12-25T13:18:11Z</dcterms:created>
  <dcterms:modified xsi:type="dcterms:W3CDTF">2025-12-25T13:18:11Z</dcterms:modified>
</cp:coreProperties>
</file>