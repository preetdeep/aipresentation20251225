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SkillBridge India</a:t>
            </a:r>
          </a:p>
          <a:p>
            <a:r>
              <a:t>Quarterly Business Review: Q4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TO: Board of Directors &amp; Executive Leadership Team</a:t>
            </a:r>
          </a:p>
          <a:p>
            <a:r>
              <a:t>FROM: Office of the Chief Executive Officer</a:t>
            </a:r>
          </a:p>
          <a:p>
            <a:r>
              <a:t>DATE: December 26, 2025</a:t>
            </a:r>
          </a:p>
          <a:p>
            <a:r>
              <a:t>SUBJECT: Performance Review and 2026 Strategic Outlook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FY2025: robust performance; Indian digital recruitment market +9% YoY.</a:t>
            </a:r>
          </a:p>
          <a:p>
            <a:pPr/>
            <a:r>
              <a:t>Q4 milestone: 14.2 million MAUs; growth via Tier-2/3 expansion.</a:t>
            </a:r>
          </a:p>
          <a:p>
            <a:pPr/>
            <a:r>
              <a:t>Growth anchored: AI/ML, Manufacturing, BFSI; IT hiring stabilized.</a:t>
            </a:r>
          </a:p>
          <a:p>
            <a:pPr/>
            <a:r>
              <a:t>Annual revenue: 412 Crore (+12% vs target).</a:t>
            </a:r>
          </a:p>
          <a:p>
            <a:pPr/>
            <a:r>
              <a:t>AI-led screening &amp; Skill-Verified credentials cut employer time-to-hire by 18%.</a:t>
            </a:r>
          </a:p>
          <a:p>
            <a:pPr/>
            <a:r>
              <a:t>Positioned as a premium alternative to legacy aggregators.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Market Analysis – Competitor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Strengths / Focus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Naukri.com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 network; vast database; B2B SaaS &amp; AI-ML tools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LinkedIn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Professional networking &amp; branding; social recruiting; leadership roles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Indeed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Massive aggregation; ease of use; SME &amp; gig-economy focus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SkillBridge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Skill-verified matching; geolocation; Tier-2/3 expansion &amp; digital credentials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User Growth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Mobile-first: 96% of users access web via mobile; app-centric strategy favoured.</a:t>
            </a:r>
          </a:p>
          <a:p>
            <a:pPr/>
            <a:r>
              <a:t>Q1 2025: 10.1M MAUs</a:t>
            </a:r>
          </a:p>
          <a:p>
            <a:pPr/>
            <a:r>
              <a:t>Q2 2025: 11.4M MAUs (+12.8%)</a:t>
            </a:r>
          </a:p>
          <a:p>
            <a:pPr/>
            <a:r>
              <a:t>Q3 2025: 12.9M MAUs (+13.1%)</a:t>
            </a:r>
          </a:p>
          <a:p>
            <a:pPr/>
            <a:r>
              <a:t>Q4 2025: 14.2M MAUs (+10.1%)</a:t>
            </a:r>
          </a:p>
          <a:p>
            <a:pPr/>
            <a:r>
              <a:t>Q4 deceleration: seller's market in high-demand tech; shift from quantity to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Revenue Breakdown (FY2025)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Employer Subscriptions (SaaS): 276 Crore (67%)</a:t>
            </a:r>
          </a:p>
          <a:p>
            <a:pPr/>
            <a:r>
              <a:t>Featured Listings &amp; Ads: 62 Crore (15%)</a:t>
            </a:r>
          </a:p>
          <a:p>
            <a:pPr/>
            <a:r>
              <a:t>Resume/Data Access: 41 Crore (10%)</a:t>
            </a:r>
          </a:p>
          <a:p>
            <a:pPr/>
            <a:r>
              <a:t>Skill Assessment &amp; Credentials: 33 Crore (8%)</a:t>
            </a:r>
          </a:p>
          <a:p>
            <a:pPr/>
            <a:r>
              <a:t>Total FY2025 Revenue: 412 Crore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Quarterly Revenue &amp; Cost Analysis (INR Crore)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EBITDA Margin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Q1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Q2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Q3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Q4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FY2025 Revenue: 412 Crore; Total Operating Costs: 218 Crore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Two-Year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growth trend in 2025: 12%</a:t>
            </a:r>
          </a:p>
          <a:p>
            <a:pPr/>
            <a:r>
              <a:t>2026 Revenue Target: 520 Crore (+26% YoY)</a:t>
            </a:r>
          </a:p>
          <a:p>
            <a:pPr/>
            <a:r>
              <a:t>2027 Revenue Target: 680 Crore (+31% YoY)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Strategic Initiatives – Project 1: Pragati (Tier-2/3 Expansion)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Cities: Coimbatore, Jaipur, Ahmedabad</a:t>
            </a:r>
          </a:p>
          <a:p>
            <a:pPr/>
            <a:r>
              <a:t>2025: 35% of new job creation from non-metros</a:t>
            </a:r>
          </a:p>
          <a:p>
            <a:pPr/>
            <a:r>
              <a:t>Local industry partnerships; UI localization: Hindi, Tamil, Marathi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Strategic Initiatives – Project 2: AI-Powered MatchScore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Proprietary LLM scores resumes vs job descriptions</a:t>
            </a:r>
          </a:p>
          <a:p>
            <a:pPr/>
            <a:r>
              <a:t>Recruiter screening time reduced by 40%</a:t>
            </a:r>
          </a:p>
          <a:p>
            <a:pPr/>
            <a:r>
              <a:t>Higher ROI for enterprise clients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Strategic Initiatives – Project 3: Verified Credentials via India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DigiLocker integration for Verified badges</a:t>
            </a:r>
          </a:p>
          <a:p>
            <a:pPr/>
            <a:r>
              <a:t>Addresses talent-shortage reporting (82%) via pre-vetted talent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Risks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Risks:</a:t>
            </a:r>
          </a:p>
          <a:p>
            <a:pPr/>
            <a:r>
              <a:t>• Automation Displacement: 38% employers report reductions due to AI/Automation</a:t>
            </a:r>
          </a:p>
          <a:p>
            <a:pPr/>
            <a:r>
              <a:t>• Data Privacy: DPDP Act scrutiny; compliance investment</a:t>
            </a:r>
          </a:p>
          <a:p>
            <a:pPr/>
            <a:r>
              <a:t>Opportunities:</a:t>
            </a:r>
          </a:p>
          <a:p>
            <a:pPr/>
            <a:r>
              <a:t>• Gig Economy: 24% workforce in gig; launch SkillBridge Flex portal</a:t>
            </a:r>
          </a:p>
          <a:p>
            <a:pPr/>
            <a:r>
              <a:t>• Global Capability Centres (GCCs): 118+ unicorns and many GCCs expanding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SkillBridge India positioned for significant growth in 2026</a:t>
            </a:r>
          </a:p>
          <a:p>
            <a:pPr/>
            <a:r>
              <a:t>Focus: quality matching, verified credentials, Tier-2/3 expansion</a:t>
            </a:r>
          </a:p>
          <a:p>
            <a:pPr/>
            <a:r>
              <a:t>Goal: sustainable growth with profitability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